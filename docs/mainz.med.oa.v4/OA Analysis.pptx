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534F6B-79CA-D24B-4ACF-3EF2E47C97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8543F2-9483-8054-5B44-AFE77C8F6A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8E665-5C42-7A40-836F-03B65EB23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80A42-F989-1983-3BFA-5E3413A82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0BBFE6-E65A-7E18-BC48-857ED0C820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0187901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60F8F-A7A9-2BC3-34E1-886DFDFEB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4F7F3-1951-D09F-C063-936F69D84D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DC071-2426-E617-E62A-E357F324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30EFD-E2C2-4B99-719C-11710823D4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B445C8-F563-500D-68C4-D88C8C512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6139158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B4FAE-ADEC-4C4C-9B75-59969BAAF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12D915-5CD5-FFA6-AC50-9E8A51914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0F3F09-3902-DE70-F8E6-AB0DAB735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5541AE-FC29-F31C-91D9-1B441EA0C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59E92-17D2-E3CA-22FE-28CC6CEAD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43982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7D7AB1-D47D-2C88-3376-5FBB31CA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0E844-BF90-168F-6490-65E1C893AF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661B5-2184-5CB8-9199-64F37CB87E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9B482A-E87F-5858-186D-051F5D859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5732CC-C2AA-CED0-B012-1DB5F7184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5C3FCE-A25C-B28D-56A5-6063E9E9E5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3781259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B4A21-3891-1D5C-4536-5FD5C8CC6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4BBA23-9F24-BFEB-1BDA-3A44C33CB6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BAFCD8-3EC3-2D71-5B68-10F722B662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7432D30-F172-14C3-500D-D8AC661F10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C7D0D-A84C-CA76-AB71-71EB7F72B0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8A2C93C-C20C-8189-9C0F-FFA59F950C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548102-D2E2-C679-C245-50AB65790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67368A9-1A4B-B877-C8AA-34306472C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996384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78603-ECEE-C17E-8394-CF56DD79B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EAF72B-4818-EB6F-DE50-01A1E3A2D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530B07-4D8E-D2FD-E6AE-A579359C2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56E005-9C7B-E5F1-147C-33A2744D4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4086528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0A956D-9156-4FB1-131B-B4B0C9D055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631CBE-72DD-ADD3-9637-C797BFBA8B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EDCB1-4C3D-6806-7E89-33126C49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121049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AD3EB-386A-A4FF-EF4B-8D53228BD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379796-332C-9A93-31DA-4EC475801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042EE-4CF7-09E5-9432-37AF5F996D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EFDDA-604D-1000-8A02-716BDB443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5C9E5E-811B-C7A1-E022-DDD0C5E51B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3E5F45-AFD8-0DDB-E6A2-A1938A465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1355531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CD4FDF-1177-972C-D27F-34C73C4A7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C87F50-5CA5-5A4D-059A-89C4A52A82A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A7A3FE-BA23-D0E4-1D27-292E5FCD09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D4826E-A234-3129-7AA5-BBC97D879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44D983E-098F-C169-0C98-8E7571F41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9D1496-EAEC-F312-F8C5-B0D19AE6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90320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C176B-AECB-FBC2-854E-6A1946815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CB9608-48DC-CC25-57E4-E489D1B8A2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952E83-BE1B-A552-ACB1-E03626405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802082-B86E-DC78-7A51-68704DAE2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15112C-DC2E-77CC-292A-30180F9E7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862554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9441225-24F5-7C6F-9E94-B7D2F69688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4556D-9251-3008-766F-4C30111E26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DA19DF-857E-66E5-67EF-08D4F52C0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54647-4E9D-AE1E-EF03-E1F55FEF5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22534-30E6-822C-1D73-FCDF02FEC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1493974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B22A9C1-2786-69A3-9068-A021B0B638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488999-0166-4A2D-3F39-4E670E0839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D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C23E52-FA8A-AC87-B729-54D085C397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61C3C31-D791-4AF9-BF3A-8D844BB8A84B}" type="datetimeFigureOut">
              <a:rPr lang="en-DK" smtClean="0"/>
              <a:t>11/03/2026</a:t>
            </a:fld>
            <a:endParaRPr lang="en-D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37499-B973-9055-BB9F-4BA23EE949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A86AE5-2935-669C-A7FF-803710B8A2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0C2B8-EE5C-4961-8728-25187E83D532}" type="slidenum">
              <a:rPr lang="en-DK" smtClean="0"/>
              <a:t>‹#›</a:t>
            </a:fld>
            <a:endParaRPr lang="en-DK"/>
          </a:p>
        </p:txBody>
      </p:sp>
    </p:spTree>
    <p:extLst>
      <p:ext uri="{BB962C8B-B14F-4D97-AF65-F5344CB8AC3E}">
        <p14:creationId xmlns:p14="http://schemas.microsoft.com/office/powerpoint/2010/main" val="2778457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he image shows a time course graph for participants S001, S002, and S004, with their values increasing or decreasing at various time intervals, and S005 has no data.&#10;&#10;AI-generated content may be incorrect.">
            <a:extLst>
              <a:ext uri="{FF2B5EF4-FFF2-40B4-BE49-F238E27FC236}">
                <a16:creationId xmlns:a16="http://schemas.microsoft.com/office/drawing/2014/main" id="{DBD1553B-DB3C-C1C1-3E40-A42BCC4E24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07"/>
          <a:stretch>
            <a:fillRect/>
          </a:stretch>
        </p:blipFill>
        <p:spPr>
          <a:xfrm>
            <a:off x="1366349" y="573795"/>
            <a:ext cx="3011932" cy="1668721"/>
          </a:xfrm>
          <a:prstGeom prst="rect">
            <a:avLst/>
          </a:prstGeom>
        </p:spPr>
      </p:pic>
      <p:pic>
        <p:nvPicPr>
          <p:cNvPr id="9" name="Picture 8" descr="The diagram illustrates the time course of a participant's performance, showing an initial increase followed by a decrease, with specific time points and ratings for participants S001, S002, S003, and S004.&#10;&#10;AI-generated content may be incorrect.">
            <a:extLst>
              <a:ext uri="{FF2B5EF4-FFF2-40B4-BE49-F238E27FC236}">
                <a16:creationId xmlns:a16="http://schemas.microsoft.com/office/drawing/2014/main" id="{6CF77133-5034-9501-FD3B-9A71AFD54A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0646"/>
          <a:stretch>
            <a:fillRect/>
          </a:stretch>
        </p:blipFill>
        <p:spPr>
          <a:xfrm>
            <a:off x="1366348" y="2426973"/>
            <a:ext cx="2986196" cy="166872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3BB9F944-A0D5-2917-CD8D-394033B433D2}"/>
              </a:ext>
            </a:extLst>
          </p:cNvPr>
          <p:cNvSpPr txBox="1"/>
          <p:nvPr/>
        </p:nvSpPr>
        <p:spPr>
          <a:xfrm>
            <a:off x="1620520" y="4003152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2s</a:t>
            </a:r>
            <a:endParaRPr lang="en-DK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EA7E4D1-6656-BD86-03BA-480BB72B6713}"/>
              </a:ext>
            </a:extLst>
          </p:cNvPr>
          <p:cNvSpPr txBox="1"/>
          <p:nvPr/>
        </p:nvSpPr>
        <p:spPr>
          <a:xfrm>
            <a:off x="2301240" y="4003151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12s</a:t>
            </a:r>
            <a:endParaRPr lang="en-DK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E7DE754-7E63-47F8-E6C0-7885DD8DFB8E}"/>
              </a:ext>
            </a:extLst>
          </p:cNvPr>
          <p:cNvSpPr txBox="1"/>
          <p:nvPr/>
        </p:nvSpPr>
        <p:spPr>
          <a:xfrm>
            <a:off x="3060508" y="4003150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22s</a:t>
            </a:r>
            <a:endParaRPr lang="en-DK" sz="1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0063A7A-B8A0-2B47-B0A5-916A4AD8CCFB}"/>
              </a:ext>
            </a:extLst>
          </p:cNvPr>
          <p:cNvSpPr txBox="1"/>
          <p:nvPr/>
        </p:nvSpPr>
        <p:spPr>
          <a:xfrm>
            <a:off x="3776788" y="4003149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32s</a:t>
            </a:r>
            <a:endParaRPr lang="en-DK" sz="12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61C5B49-41D8-52ED-D645-C0174FC474BD}"/>
              </a:ext>
            </a:extLst>
          </p:cNvPr>
          <p:cNvSpPr/>
          <p:nvPr/>
        </p:nvSpPr>
        <p:spPr>
          <a:xfrm>
            <a:off x="3312160" y="650240"/>
            <a:ext cx="423514" cy="339852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K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D5AC656-0927-AFD2-B4B0-ED48630593F3}"/>
              </a:ext>
            </a:extLst>
          </p:cNvPr>
          <p:cNvCxnSpPr>
            <a:stCxn id="14" idx="1"/>
            <a:endCxn id="14" idx="3"/>
          </p:cNvCxnSpPr>
          <p:nvPr/>
        </p:nvCxnSpPr>
        <p:spPr>
          <a:xfrm>
            <a:off x="3312160" y="2349500"/>
            <a:ext cx="42351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92B5663C-73D5-F847-BAF6-C7429C6FC916}"/>
              </a:ext>
            </a:extLst>
          </p:cNvPr>
          <p:cNvSpPr txBox="1"/>
          <p:nvPr/>
        </p:nvSpPr>
        <p:spPr>
          <a:xfrm>
            <a:off x="3353274" y="2072501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4s</a:t>
            </a:r>
            <a:endParaRPr lang="en-DK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9017CE8-B1C2-967D-1CEA-13643C765D1A}"/>
              </a:ext>
            </a:extLst>
          </p:cNvPr>
          <p:cNvSpPr txBox="1"/>
          <p:nvPr/>
        </p:nvSpPr>
        <p:spPr>
          <a:xfrm>
            <a:off x="3141280" y="343067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23s</a:t>
            </a:r>
            <a:endParaRPr lang="en-DK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5CEF0B-836F-E6D1-0628-E96C7817008F}"/>
              </a:ext>
            </a:extLst>
          </p:cNvPr>
          <p:cNvSpPr txBox="1"/>
          <p:nvPr/>
        </p:nvSpPr>
        <p:spPr>
          <a:xfrm>
            <a:off x="3548023" y="343067"/>
            <a:ext cx="42351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27s</a:t>
            </a:r>
            <a:endParaRPr lang="en-DK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D8AB469-3F1C-99C6-D54E-27B6E357DE08}"/>
              </a:ext>
            </a:extLst>
          </p:cNvPr>
          <p:cNvSpPr txBox="1"/>
          <p:nvPr/>
        </p:nvSpPr>
        <p:spPr>
          <a:xfrm>
            <a:off x="4626347" y="535695"/>
            <a:ext cx="32212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Quantification of the OA effect.</a:t>
            </a:r>
          </a:p>
          <a:p>
            <a:r>
              <a:rPr lang="en-US" sz="1200" dirty="0"/>
              <a:t>Calculate the mean of VAS rating in the time window from 1s-5s after the cessation of the offset.</a:t>
            </a:r>
          </a:p>
          <a:p>
            <a:endParaRPr lang="en-US" sz="1200" dirty="0"/>
          </a:p>
          <a:p>
            <a:endParaRPr lang="en-US" sz="1200" dirty="0"/>
          </a:p>
        </p:txBody>
      </p:sp>
      <p:pic>
        <p:nvPicPr>
          <p:cNvPr id="3" name="Picture 2" descr="The image illustrates a graph comparing the pain intensity on a visual analog scale (VAS) for a control trial and an offset analgesia trial, with values showing the pain levels for thermal and electrical stimuli.&#10;&#10;AI-generated content may be incorrect.">
            <a:extLst>
              <a:ext uri="{FF2B5EF4-FFF2-40B4-BE49-F238E27FC236}">
                <a16:creationId xmlns:a16="http://schemas.microsoft.com/office/drawing/2014/main" id="{66900FAC-1AE2-2488-F56F-3B0507ADC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0610" y="1538088"/>
            <a:ext cx="4906060" cy="282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09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he diagram illustrates a positive correlation (r = 0.48, p &lt; 0.02) between thermal and electrical OA-effects, with dashed lines indicating a cut-off value.&#10;&#10;AI-generated content may be incorrect.">
            <a:extLst>
              <a:ext uri="{FF2B5EF4-FFF2-40B4-BE49-F238E27FC236}">
                <a16:creationId xmlns:a16="http://schemas.microsoft.com/office/drawing/2014/main" id="{05EBD009-8BBC-9FFB-2820-7E7C8E7721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8195" y="1474454"/>
            <a:ext cx="5153744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4626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E4A7DC-1872-997F-1F35-CA89824E0E34}"/>
              </a:ext>
            </a:extLst>
          </p:cNvPr>
          <p:cNvSpPr txBox="1"/>
          <p:nvPr/>
        </p:nvSpPr>
        <p:spPr>
          <a:xfrm>
            <a:off x="4605867" y="117693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DK" dirty="0"/>
              <a:t>The VAS scores were averaged across the two arms. The term ‘OA-effect’ was chosen to indicate the VAS difference of the OA-trial compared with the control trial. The OA-effect is present after the decrease in the painful stimulus from STIM2 to STIM3; therefore, the mean VAS score from 1 to 5 s after the onset of the STIM3 interval was used to analyse the OA-effect. This corresponds to 16–20 s into the thermal trials (due to the delay of the thermodes to reach the target temperatures and the latency of the response) and 13–17 s into the electrical trials (Fig. 2). Initially, a three-way </a:t>
            </a:r>
            <a:r>
              <a:rPr lang="en-DK" dirty="0" err="1"/>
              <a:t>rmANOVA</a:t>
            </a:r>
            <a:r>
              <a:rPr lang="en-DK" dirty="0"/>
              <a:t> was applied to investigate the difference in pain ratings during the  OA-response with modalities (thermal, electrical) and trials (control, OA) as within-subject factors (SPSS 24.0, IBM Corporation, New York, USA). Bonferroni adjusted post hoc was applied to adjust for multiple comparisons. Secondly, the OA-effect was calculated as the difference in the pain ratings between the control and the OA-trials. Finally, Pearson’s correlation was applied to investigate any potential relation between the thermal and electrical OA-effects and a frequency analysis were conducted to investigate thermal and electrical OA-effect above 0 using a </a:t>
            </a:r>
            <a:r>
              <a:rPr lang="en-DK" dirty="0" err="1"/>
              <a:t>chisquare</a:t>
            </a:r>
            <a:r>
              <a:rPr lang="en-DK" dirty="0"/>
              <a:t> test. p-values less than 0.05 were considered significant. In the text and figures, data are presented as mean standard error of mean (SEM).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305129-E4F1-DFFA-5A9F-5153717B7BCB}"/>
              </a:ext>
            </a:extLst>
          </p:cNvPr>
          <p:cNvSpPr txBox="1"/>
          <p:nvPr/>
        </p:nvSpPr>
        <p:spPr>
          <a:xfrm>
            <a:off x="482600" y="491067"/>
            <a:ext cx="1330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From paper</a:t>
            </a:r>
            <a:endParaRPr lang="en-DK" dirty="0"/>
          </a:p>
        </p:txBody>
      </p:sp>
    </p:spTree>
    <p:extLst>
      <p:ext uri="{BB962C8B-B14F-4D97-AF65-F5344CB8AC3E}">
        <p14:creationId xmlns:p14="http://schemas.microsoft.com/office/powerpoint/2010/main" val="3428495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287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Kristian Hennings</dc:creator>
  <cp:lastModifiedBy>Kristian Hennings</cp:lastModifiedBy>
  <cp:revision>9</cp:revision>
  <dcterms:created xsi:type="dcterms:W3CDTF">2026-03-11T09:55:19Z</dcterms:created>
  <dcterms:modified xsi:type="dcterms:W3CDTF">2026-03-11T10:13:42Z</dcterms:modified>
</cp:coreProperties>
</file>